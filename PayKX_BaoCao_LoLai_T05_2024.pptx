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8F43DA63-92C6-AD69-F7DB-0A05EE220A0A}">
          <p14:sldIdLst>
            <p14:sldId id="256"/>
          </p14:sldIdLst>
        </p14:section>
        <p14:section name="Kết quả kinh doanh" id="{574B077D-AC2B-EDE4-C3D3-6C7425A90764}">
          <p14:sldIdLst>
            <p14:sldId id="257"/>
            <p14:sldId id="258"/>
            <p14:sldId id="259"/>
            <p14:sldId id="260"/>
            <p14:sldId id="261"/>
          </p14:sldIdLst>
        </p14:section>
        <p14:section name="Kết luận" id="{75549FD6-A2F6-B444-2DE7-DFA1E6C267BE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US" sz="3000" b="0" i="0" u="none" strike="noStrike" dirty="0">
                <a:solidFill>
                  <a:srgbClr val="1F2937"/>
                </a:solidFill>
                <a:latin typeface="+mn-lt"/>
              </a:rPr>
              <a:t>Doanh </a:t>
            </a:r>
            <a:r>
              <a:rPr lang="en-US" sz="3000" b="0" i="0" u="none" strike="noStrike" dirty="0" err="1">
                <a:solidFill>
                  <a:srgbClr val="1F2937"/>
                </a:solidFill>
                <a:latin typeface="+mn-lt"/>
              </a:rPr>
              <a:t>thu</a:t>
            </a:r>
            <a:r>
              <a:rPr lang="en-US" sz="3000" b="0" i="0" u="none" strike="noStrike" dirty="0">
                <a:solidFill>
                  <a:srgbClr val="1F2937"/>
                </a:solidFill>
                <a:latin typeface="+mn-lt"/>
              </a:rPr>
              <a:t> </a:t>
            </a:r>
            <a:r>
              <a:rPr lang="en-US" sz="3000" b="0" i="0" u="none" strike="noStrike" dirty="0" err="1">
                <a:solidFill>
                  <a:srgbClr val="1F2937"/>
                </a:solidFill>
                <a:latin typeface="+mn-lt"/>
              </a:rPr>
              <a:t>thuần</a:t>
            </a:r>
            <a:r>
              <a:rPr lang="en-US" sz="3000" b="0" i="0" u="none" strike="noStrike" dirty="0">
                <a:solidFill>
                  <a:srgbClr val="1F2937"/>
                </a:solidFill>
                <a:latin typeface="+mn-lt"/>
              </a:rPr>
              <a:t> (</a:t>
            </a:r>
            <a:r>
              <a:rPr lang="en-US" sz="3000" b="0" i="0" u="none" strike="noStrike" dirty="0" err="1">
                <a:solidFill>
                  <a:srgbClr val="1F2937"/>
                </a:solidFill>
                <a:latin typeface="+mn-lt"/>
              </a:rPr>
              <a:t>tỷ</a:t>
            </a:r>
            <a:r>
              <a:rPr lang="en-US" sz="3000" b="0" i="0" u="none" strike="noStrike" dirty="0">
                <a:solidFill>
                  <a:srgbClr val="1F2937"/>
                </a:solidFill>
                <a:latin typeface="+mn-lt"/>
              </a:rPr>
              <a:t> </a:t>
            </a:r>
            <a:r>
              <a:rPr lang="en-US" sz="3000" b="0" i="0" u="none" strike="noStrike" dirty="0" err="1">
                <a:solidFill>
                  <a:srgbClr val="1F2937"/>
                </a:solidFill>
                <a:latin typeface="+mn-lt"/>
              </a:rPr>
              <a:t>đồng</a:t>
            </a:r>
            <a:r>
              <a:rPr lang="en-US" sz="3000" b="0" i="0" u="none" strike="noStrike" dirty="0">
                <a:solidFill>
                  <a:srgbClr val="1F2937"/>
                </a:solidFill>
                <a:latin typeface="+mn-lt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thuần</c:v>
                </c:pt>
              </c:strCache>
            </c:strRef>
          </c:tx>
          <c:spPr>
            <a:solidFill>
              <a:srgbClr val="B6C2C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39-4F1D-8DA0-4B2F43DCB24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939-4F1D-8DA0-4B2F43DCB24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939-4F1D-8DA0-4B2F43DCB24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939-4F1D-8DA0-4B2F43DCB248}"/>
              </c:ext>
            </c:extLst>
          </c:dPt>
          <c:dPt>
            <c:idx val="4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939-4F1D-8DA0-4B2F43DCB24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  <c:pt idx="4">
                  <c:v>T05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7.28</c:v>
                </c:pt>
                <c:pt idx="1">
                  <c:v>8.01</c:v>
                </c:pt>
                <c:pt idx="2">
                  <c:v>9.36</c:v>
                </c:pt>
                <c:pt idx="3">
                  <c:v>10.5</c:v>
                </c:pt>
                <c:pt idx="4">
                  <c:v>12.45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939-4F1D-8DA0-4B2F43DCB2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de-DE" sz="3000" b="0" i="0" u="none" strike="noStrike">
                <a:solidFill>
                  <a:srgbClr val="1F2937"/>
                </a:solidFill>
                <a:latin typeface="+mn-lt"/>
              </a:rPr>
              <a:t>Tăng trưởng so với T4/2024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Tăng trưởng</c:v>
                </c:pt>
              </c:strCache>
            </c:strRef>
          </c:tx>
          <c:spPr>
            <a:solidFill>
              <a:srgbClr val="B6C2C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D8A-4452-9461-F1B61954C018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D8A-4452-9461-F1B61954C018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D8A-4452-9461-F1B61954C018}"/>
              </c:ext>
            </c:extLst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D8A-4452-9461-F1B61954C01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Doanh thu</c:v>
                </c:pt>
                <c:pt idx="1">
                  <c:v>Chi phí</c:v>
                </c:pt>
                <c:pt idx="2">
                  <c:v>LN gộp</c:v>
                </c:pt>
                <c:pt idx="3">
                  <c:v>LN sau thuế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18.600000000000001</c:v>
                </c:pt>
                <c:pt idx="1">
                  <c:v>12.1</c:v>
                </c:pt>
                <c:pt idx="2">
                  <c:v>27.4</c:v>
                </c:pt>
                <c:pt idx="3">
                  <c:v>31.2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8A-4452-9461-F1B61954C0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US" sz="3000" b="0" i="0" u="none" strike="noStrike">
                <a:solidFill>
                  <a:srgbClr val="1F2937"/>
                </a:solidFill>
                <a:latin typeface="+mn-lt"/>
              </a:rPr>
              <a:t>Kết quả T05/2024 (tỷ đồng)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T05/2024</c:v>
                </c:pt>
              </c:strCache>
            </c:strRef>
          </c:tx>
          <c:spPr>
            <a:solidFill>
              <a:srgbClr val="0B3C5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FE1-4020-93A3-507F14C7F4B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E1-4020-93A3-507F14C7F4B3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E1-4020-93A3-507F14C7F4B3}"/>
              </c:ext>
            </c:extLst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E1-4020-93A3-507F14C7F4B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Doanh thu</c:v>
                </c:pt>
                <c:pt idx="1">
                  <c:v>Chi phí</c:v>
                </c:pt>
                <c:pt idx="2">
                  <c:v>LN gộp</c:v>
                </c:pt>
                <c:pt idx="3">
                  <c:v>LN sau thuế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12.45</c:v>
                </c:pt>
                <c:pt idx="1">
                  <c:v>7.28</c:v>
                </c:pt>
                <c:pt idx="2">
                  <c:v>5.17</c:v>
                </c:pt>
                <c:pt idx="3">
                  <c:v>2.89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FE1-4020-93A3-507F14C7F4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vi-VN" sz="3000" b="0" i="0" u="none" strike="noStrike">
                <a:solidFill>
                  <a:srgbClr val="1F2937"/>
                </a:solidFill>
                <a:latin typeface="+mn-lt"/>
              </a:rPr>
              <a:t>Cơ cấu chi phí T05/2024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Cơ cấu chi phí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C5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44-400B-8C89-8507373F0092}"/>
              </c:ext>
            </c:extLst>
          </c:dPt>
          <c:dPt>
            <c:idx val="1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44-400B-8C89-8507373F0092}"/>
              </c:ext>
            </c:extLst>
          </c:dPt>
          <c:dPt>
            <c:idx val="2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44-400B-8C89-8507373F0092}"/>
              </c:ext>
            </c:extLst>
          </c:dPt>
          <c:dPt>
            <c:idx val="3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44-400B-8C89-8507373F009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44-400B-8C89-8507373F009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44-400B-8C89-8507373F009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44-400B-8C89-8507373F009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544-400B-8C89-8507373F009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Phí đối tác &amp; ngân hàng</c:v>
                </c:pt>
                <c:pt idx="1">
                  <c:v>Chi phí vận hành</c:v>
                </c:pt>
                <c:pt idx="2">
                  <c:v>Chi phí 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28</c:v>
                </c:pt>
                <c:pt idx="2">
                  <c:v>16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544-400B-8C89-8507373F00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3000">
              <a:solidFill>
                <a:srgbClr val="1F29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lang="en-US" sz="3000" b="0" i="0" u="none" strike="noStrike">
                <a:solidFill>
                  <a:srgbClr val="1F2937"/>
                </a:solidFill>
                <a:latin typeface="+mn-lt"/>
              </a:rPr>
              <a:t>5 ngân hàng có phí cao nhất (triệu đồng)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Tổng phí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55-4D76-8617-23550B57E9C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955-4D76-8617-23550B57E9C0}"/>
              </c:ext>
            </c:extLst>
          </c:dPt>
          <c:dPt>
            <c:idx val="2"/>
            <c:invertIfNegative val="0"/>
            <c:bubble3D val="0"/>
            <c:spPr>
              <a:solidFill>
                <a:srgbClr val="B6C2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55-4D76-8617-23550B57E9C0}"/>
              </c:ext>
            </c:extLst>
          </c:dPt>
          <c:dPt>
            <c:idx val="3"/>
            <c:invertIfNegative val="0"/>
            <c:bubble3D val="0"/>
            <c:spPr>
              <a:solidFill>
                <a:srgbClr val="B6C2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955-4D76-8617-23550B57E9C0}"/>
              </c:ext>
            </c:extLst>
          </c:dPt>
          <c:dPt>
            <c:idx val="4"/>
            <c:invertIfNegative val="0"/>
            <c:bubble3D val="0"/>
            <c:spPr>
              <a:solidFill>
                <a:srgbClr val="B6C2C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955-4D76-8617-23550B57E9C0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VCB</c:v>
                </c:pt>
                <c:pt idx="1">
                  <c:v>BIDV</c:v>
                </c:pt>
                <c:pt idx="2">
                  <c:v>CTG</c:v>
                </c:pt>
                <c:pt idx="3">
                  <c:v>TCB</c:v>
                </c:pt>
                <c:pt idx="4">
                  <c:v>MBB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21.3</c:v>
                </c:pt>
                <c:pt idx="1">
                  <c:v>15.6</c:v>
                </c:pt>
                <c:pt idx="2">
                  <c:v>12.8</c:v>
                </c:pt>
                <c:pt idx="3">
                  <c:v>10.9</c:v>
                </c:pt>
                <c:pt idx="4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955-4D76-8617-23550B57E9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61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đầu. Toàn bộ số liệu lấy từ ảnh minh họa trong đề bài (báo cáo lỗ lãi T05/2024 và bảng tổng hợp phí đối tác). Quy tắc 10/20/30: tối đa 10 slide, 20 phút, chữ từ 30pt.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Doanh thu thuần T05 là 12,45 tỷ đồng, tăng 18,6% so với T4/2024 (10,50 tỷ). Doanh thu tăng liên tục từ T01 (7,28 tỷ) đến T05. Đề bài không nêu nguyên nhân tăng nên không gán nguyên nhân cụ thể.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với T4/2024: doanh thu thuần +18,6%, tổng chi phí +12,1%, lợi nhuận gộp +27,4%, lợi nhuận sau thuế +31,2%. Chi phí tăng chậm hơn doanh thu nên lợi nhuận tăng nhanh hơn.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Doanh thu thuần 12,45 tỷ trừ tổng chi phí 7,28 tỷ ra lợi nhuận gộp 5,17 tỷ; lợi nhuận sau thuế là 2,89 tỷ đồng.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Cơ cấu chi phí T05/2024: phí đối tác và ngân hàng 46%, chi phí vận hành 28%, marketing 16%, khác 10%. Tỷ lệ lấy từ ảnh đề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Biểu đồ chỉ hiện 5 ngân hàng có phí cao nhất; 5 ngân hàng còn lại (ACB, VPB, TPB, OCB, SHB) cộng 32.126.928 đồng. Từ bảng tổng hợp phí T05/2024: tổng phí 10 ngân hàng là 103.278.682 đồng (tổng các dòng). Vietcombank 21.291.664 và BIDV 15.596.608 đồng, cộng lại 36.888.272 đồng, chiếm 35,7%.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Tất cả tăng trưởng so với T4/2024. Thông điệp: tăng trưởng doanh thu mạnh, tối ưu chi phí, lợi nhuận bứt phá.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164592" cy="28346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2011680"/>
            <a:ext cx="102412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143000" y="365760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20040"/>
            <a:ext cx="1106424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1143000" y="201168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0000"/>
                </a:solidFill>
              </a:rPr>
              <a:t>Báo cáo lỗ lãi PayKX tháng 05/2024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1143000" y="36576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chemeClr val="tx1"/>
                </a:solidFill>
              </a:rPr>
              <a:t>Tăng trưởng doanh thu mạnh – Tối ưu chi phí – Lợi nhuận bứt phá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200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</a:rPr>
              <a:t>Doanh thu thuần tăng 18,6% lên 12,45 tỷ đồng</a:t>
            </a:r>
            <a:endParaRPr lang="en-US" sz="3400" dirty="0">
              <a:solidFill>
                <a:srgbClr val="FF0000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74066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venue growth card"/>
          <p:cNvSpPr/>
          <p:nvPr/>
        </p:nvSpPr>
        <p:spPr>
          <a:xfrm>
            <a:off x="8229600" y="2103120"/>
            <a:ext cx="3474720" cy="39319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venue growth number"/>
          <p:cNvSpPr txBox="1"/>
          <p:nvPr/>
        </p:nvSpPr>
        <p:spPr>
          <a:xfrm>
            <a:off x="8366760" y="24231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+18,6%</a:t>
            </a:r>
            <a:endParaRPr lang="en-US" sz="5400" dirty="0"/>
          </a:p>
        </p:txBody>
      </p:sp>
      <p:sp>
        <p:nvSpPr>
          <p:cNvPr id="6" name="Revenue growth label"/>
          <p:cNvSpPr txBox="1"/>
          <p:nvPr/>
        </p:nvSpPr>
        <p:spPr>
          <a:xfrm>
            <a:off x="8412480" y="37033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so với T4/2024 (10,50 → 12,45 tỷ)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200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</a:rPr>
              <a:t>Lợi nhuận sau thuế tăng 31,2%, nhanh nhất trong các chỉ tiêu</a:t>
            </a:r>
            <a:endParaRPr lang="en-US" sz="3400" dirty="0">
              <a:solidFill>
                <a:srgbClr val="FF0000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110642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200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</a:rPr>
              <a:t>Từ 12,45 tỷ doanh thu còn lại 2,89 tỷ lợi nhuận sau thuế</a:t>
            </a:r>
            <a:endParaRPr lang="en-US" sz="3400" dirty="0">
              <a:solidFill>
                <a:srgbClr val="FF0000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110642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200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</a:rPr>
              <a:t>Phí đối tác và ngân hàng chiếm 46% tổng chi phí</a:t>
            </a:r>
            <a:endParaRPr lang="en-US" sz="3400" dirty="0">
              <a:solidFill>
                <a:srgbClr val="FF0000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110642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200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</a:rPr>
              <a:t>Vietcombank và BIDV chiếm 36% tổng phí đối tác</a:t>
            </a:r>
            <a:endParaRPr lang="en-US" sz="3400" dirty="0">
              <a:solidFill>
                <a:srgbClr val="FF0000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640080" y="1691640"/>
          <a:ext cx="110642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20040"/>
            <a:ext cx="11064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0000"/>
                </a:solidFill>
              </a:rPr>
              <a:t>Doanh thu tăng nhanh hơn chi phí nên lợi nhuận bứt phá</a:t>
            </a:r>
            <a:endParaRPr lang="en-US" sz="3400" dirty="0">
              <a:solidFill>
                <a:srgbClr val="FF0000"/>
              </a:solidFill>
            </a:endParaRPr>
          </a:p>
        </p:txBody>
      </p:sp>
      <p:sp>
        <p:nvSpPr>
          <p:cNvPr id="3" name="Revenue card"/>
          <p:cNvSpPr/>
          <p:nvPr/>
        </p:nvSpPr>
        <p:spPr>
          <a:xfrm>
            <a:off x="640080" y="228600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venue number"/>
          <p:cNvSpPr txBox="1"/>
          <p:nvPr/>
        </p:nvSpPr>
        <p:spPr>
          <a:xfrm>
            <a:off x="777240" y="26060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+18,6%</a:t>
            </a:r>
            <a:endParaRPr lang="en-US" sz="5400" dirty="0"/>
          </a:p>
        </p:txBody>
      </p:sp>
      <p:sp>
        <p:nvSpPr>
          <p:cNvPr id="5" name="Revenue label"/>
          <p:cNvSpPr txBox="1"/>
          <p:nvPr/>
        </p:nvSpPr>
        <p:spPr>
          <a:xfrm>
            <a:off x="822960" y="38862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doanh thu thuần</a:t>
            </a:r>
            <a:endParaRPr lang="en-US" sz="3000" dirty="0"/>
          </a:p>
        </p:txBody>
      </p:sp>
      <p:sp>
        <p:nvSpPr>
          <p:cNvPr id="6" name="Cost card"/>
          <p:cNvSpPr/>
          <p:nvPr/>
        </p:nvSpPr>
        <p:spPr>
          <a:xfrm>
            <a:off x="4334256" y="228600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ost number"/>
          <p:cNvSpPr txBox="1"/>
          <p:nvPr/>
        </p:nvSpPr>
        <p:spPr>
          <a:xfrm>
            <a:off x="4471416" y="26060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+12,1%</a:t>
            </a:r>
            <a:endParaRPr lang="en-US" sz="5400" dirty="0"/>
          </a:p>
        </p:txBody>
      </p:sp>
      <p:sp>
        <p:nvSpPr>
          <p:cNvPr id="8" name="Cost label"/>
          <p:cNvSpPr txBox="1"/>
          <p:nvPr/>
        </p:nvSpPr>
        <p:spPr>
          <a:xfrm>
            <a:off x="4517136" y="38862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tổng chi phí</a:t>
            </a:r>
            <a:endParaRPr lang="en-US" sz="3000" dirty="0"/>
          </a:p>
        </p:txBody>
      </p:sp>
      <p:sp>
        <p:nvSpPr>
          <p:cNvPr id="9" name="Profit card"/>
          <p:cNvSpPr/>
          <p:nvPr/>
        </p:nvSpPr>
        <p:spPr>
          <a:xfrm>
            <a:off x="8028432" y="2286000"/>
            <a:ext cx="352044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Profit number"/>
          <p:cNvSpPr txBox="1"/>
          <p:nvPr/>
        </p:nvSpPr>
        <p:spPr>
          <a:xfrm>
            <a:off x="8165592" y="26060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</a:rPr>
              <a:t>+31,2%</a:t>
            </a:r>
            <a:endParaRPr lang="en-US" sz="5400" dirty="0"/>
          </a:p>
        </p:txBody>
      </p:sp>
      <p:sp>
        <p:nvSpPr>
          <p:cNvPr id="11" name="Profit label"/>
          <p:cNvSpPr txBox="1"/>
          <p:nvPr/>
        </p:nvSpPr>
        <p:spPr>
          <a:xfrm>
            <a:off x="8211312" y="38862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tx1"/>
                </a:solidFill>
              </a:rPr>
              <a:t>lợi nhuận sau thuế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KX">
  <a:themeElements>
    <a:clrScheme name="PayKX">
      <a:dk1>
        <a:srgbClr val="1F2937"/>
      </a:dk1>
      <a:lt1>
        <a:srgbClr val="FFFFFF"/>
      </a:lt1>
      <a:dk2>
        <a:srgbClr val="0B3C5D"/>
      </a:dk2>
      <a:lt2>
        <a:srgbClr val="EEF3F8"/>
      </a:lt2>
      <a:accent1>
        <a:srgbClr val="0F766E"/>
      </a:accent1>
      <a:accent2>
        <a:srgbClr val="F59E0B"/>
      </a:accent2>
      <a:accent3>
        <a:srgbClr val="64748B"/>
      </a:accent3>
      <a:accent4>
        <a:srgbClr val="DC2626"/>
      </a:accent4>
      <a:accent5>
        <a:srgbClr val="2563EB"/>
      </a:accent5>
      <a:accent6>
        <a:srgbClr val="7C3AED"/>
      </a:accent6>
      <a:hlink>
        <a:srgbClr val="0F766E"/>
      </a:hlink>
      <a:folHlink>
        <a:srgbClr val="64748B"/>
      </a:folHlink>
    </a:clrScheme>
    <a:fontScheme name="PayK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461</Words>
  <Application>Microsoft Office PowerPoint</Application>
  <PresentationFormat>Widescreen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PayKX</vt:lpstr>
      <vt:lpstr>Báo cáo lỗ lãi PayKX tháng 05/2024</vt:lpstr>
      <vt:lpstr>Doanh thu thuần tăng 18,6% lên 12,45 tỷ đồng</vt:lpstr>
      <vt:lpstr>Lợi nhuận sau thuế tăng 31,2%, nhanh nhất trong các chỉ tiêu</vt:lpstr>
      <vt:lpstr>Từ 12,45 tỷ doanh thu còn lại 2,89 tỷ lợi nhuận sau thuế</vt:lpstr>
      <vt:lpstr>Phí đối tác và ngân hàng chiếm 46% tổng chi phí</vt:lpstr>
      <vt:lpstr>Vietcombank và BIDV chiếm 36% tổng phí đối tác</vt:lpstr>
      <vt:lpstr>Doanh thu tăng nhanh hơn chi phí nên lợi nhuận bứt phá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PayKX – Báo cáo lỗ lãi tháng 05/2024</dc:title>
  <dc:subject>PptxGenJS Presentation</dc:subject>
  <dc:creator>Trưởng dự án PayKX</dc:creator>
  <cp:lastModifiedBy>Lê Thái</cp:lastModifiedBy>
  <cp:revision>4</cp:revision>
  <dcterms:created xsi:type="dcterms:W3CDTF">2026-10-21T06:59:55Z</dcterms:created>
  <dcterms:modified xsi:type="dcterms:W3CDTF">2026-10-21T07:26:30Z</dcterms:modified>
</cp:coreProperties>
</file>